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bd44d41ee40162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bd44d41ee4016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32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492240" y="1280160"/>
            <a:ext cx="10972" cy="44805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059168" y="1280160"/>
            <a:ext cx="10972" cy="44805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6096" y="1280160"/>
            <a:ext cx="10972" cy="44805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193023" y="1280160"/>
            <a:ext cx="10972" cy="44805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8759952" y="1280160"/>
            <a:ext cx="10972" cy="44805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9326880" y="1280160"/>
            <a:ext cx="10972" cy="44805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893808" y="1280160"/>
            <a:ext cx="10972" cy="44805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217920" y="1417320"/>
            <a:ext cx="4937760" cy="10972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6217920" y="1947672"/>
            <a:ext cx="4937760" cy="10972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217920" y="2478024"/>
            <a:ext cx="4937760" cy="10972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217920" y="3008376"/>
            <a:ext cx="4937760" cy="10972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6217920" y="3538728"/>
            <a:ext cx="4937760" cy="10972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217920" y="4069080"/>
            <a:ext cx="4937760" cy="10972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217920" y="4599431"/>
            <a:ext cx="4937760" cy="10972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217920" y="5129783"/>
            <a:ext cx="4937760" cy="10972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 rot="1501014">
            <a:off x="6922008" y="1892807"/>
            <a:ext cx="1513601" cy="16459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 rot="-1512067">
            <a:off x="8293608" y="2532888"/>
            <a:ext cx="1718001" cy="16459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 rot="3701955">
            <a:off x="9848088" y="1801368"/>
            <a:ext cx="1350095" cy="16459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 rot="4242597">
            <a:off x="6922008" y="1892807"/>
            <a:ext cx="1937578" cy="16459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 rot="1501014">
            <a:off x="7562088" y="3721608"/>
            <a:ext cx="1513601" cy="16459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 rot="1262251">
            <a:off x="8933688" y="4361688"/>
            <a:ext cx="1273611" cy="16459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 rot="7184693">
            <a:off x="7562088" y="3721608"/>
            <a:ext cx="1474425" cy="16459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 rot="4242597">
            <a:off x="8293608" y="2532888"/>
            <a:ext cx="1937578" cy="16459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 rot="6078596">
            <a:off x="10488168" y="2990088"/>
            <a:ext cx="1865017" cy="16459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6858000" y="1828800"/>
            <a:ext cx="146304" cy="146304"/>
          </a:xfrm>
          <a:prstGeom prst="ellipse">
            <a:avLst/>
          </a:prstGeom>
          <a:solidFill>
            <a:srgbClr val="53CC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8229600" y="2468880"/>
            <a:ext cx="146304" cy="146304"/>
          </a:xfrm>
          <a:prstGeom prst="ellipse">
            <a:avLst/>
          </a:prstGeom>
          <a:solidFill>
            <a:srgbClr val="EE4E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9784080" y="1737360"/>
            <a:ext cx="146304" cy="146304"/>
          </a:xfrm>
          <a:prstGeom prst="ellipse">
            <a:avLst/>
          </a:prstGeom>
          <a:solidFill>
            <a:srgbClr val="F4BE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10424160" y="2926080"/>
            <a:ext cx="146304" cy="146304"/>
          </a:xfrm>
          <a:prstGeom prst="ellipse">
            <a:avLst/>
          </a:prstGeom>
          <a:solidFill>
            <a:srgbClr val="53CC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7498079" y="3657600"/>
            <a:ext cx="146304" cy="146304"/>
          </a:xfrm>
          <a:prstGeom prst="ellipse">
            <a:avLst/>
          </a:prstGeom>
          <a:solidFill>
            <a:srgbClr val="EE4E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8869680" y="4297680"/>
            <a:ext cx="146304" cy="146304"/>
          </a:xfrm>
          <a:prstGeom prst="ellipse">
            <a:avLst/>
          </a:prstGeom>
          <a:solidFill>
            <a:srgbClr val="53CC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0058400" y="4754880"/>
            <a:ext cx="146304" cy="146304"/>
          </a:xfrm>
          <a:prstGeom prst="ellipse">
            <a:avLst/>
          </a:prstGeom>
          <a:solidFill>
            <a:srgbClr val="F4BE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6766560" y="4937760"/>
            <a:ext cx="146304" cy="146304"/>
          </a:xfrm>
          <a:prstGeom prst="ellipse">
            <a:avLst/>
          </a:prstGeom>
          <a:solidFill>
            <a:srgbClr val="53CC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713232" y="1417320"/>
            <a:ext cx="73152" cy="3383280"/>
          </a:xfrm>
          <a:prstGeom prst="rect">
            <a:avLst/>
          </a:prstGeom>
          <a:solidFill>
            <a:srgbClr val="EE4E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987552" y="1481328"/>
            <a:ext cx="44805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3CCDC"/>
                </a:solidFill>
              </a:rPr>
              <a:t>Duran Emir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960120" y="1874519"/>
            <a:ext cx="594360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The Possible</a:t>
            </a:r>
            <a:br>
              <a:rPr b="1" i="0" lang="en-US" sz="31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1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Outcomes of Today’s</a:t>
            </a:r>
            <a:br>
              <a:rPr b="1" i="0" lang="en-US" sz="31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1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Geopolitical Situation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005840" y="4315968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Three possible paths for the world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1005840" y="48920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4E52"/>
                </a:solidFill>
                <a:latin typeface="Arial"/>
                <a:ea typeface="Arial"/>
                <a:cs typeface="Arial"/>
                <a:sym typeface="Arial"/>
              </a:rPr>
              <a:t>Conflict  •  Diplomacy  •  Division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1005840" y="6199632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ORAL PRESENTATION  |  ENGLISH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3CCDC"/>
                </a:solidFill>
                <a:latin typeface="Arial"/>
                <a:ea typeface="Arial"/>
                <a:cs typeface="Arial"/>
                <a:sym typeface="Arial"/>
              </a:rPr>
              <a:t>POSSIBLE OUTCOME 01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0515600" y="38404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02 / 04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640080" y="749808"/>
            <a:ext cx="10927080" cy="228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658368" y="1051560"/>
            <a:ext cx="6675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A more dangerous world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85800" y="1737360"/>
            <a:ext cx="74980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If countries refuse to cooperate, tensions could increase.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713225" y="2714350"/>
            <a:ext cx="4827900" cy="1892700"/>
          </a:xfrm>
          <a:prstGeom prst="roundRect">
            <a:avLst>
              <a:gd fmla="val 16667" name="adj"/>
            </a:avLst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1029873" y="3321880"/>
            <a:ext cx="174000" cy="181200"/>
          </a:xfrm>
          <a:prstGeom prst="ellipse">
            <a:avLst/>
          </a:prstGeom>
          <a:solidFill>
            <a:srgbClr val="EE4E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312102" y="3184420"/>
            <a:ext cx="4297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More conflicts</a:t>
            </a:r>
            <a:endParaRPr sz="1900"/>
          </a:p>
        </p:txBody>
      </p:sp>
      <p:sp>
        <p:nvSpPr>
          <p:cNvPr id="134" name="Google Shape;134;p14"/>
          <p:cNvSpPr txBox="1"/>
          <p:nvPr/>
        </p:nvSpPr>
        <p:spPr>
          <a:xfrm>
            <a:off x="3771860" y="5229598"/>
            <a:ext cx="466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A local conflict can have global consequences.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713232" y="617220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Possible outcome — not a prediction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6372275" y="2714400"/>
            <a:ext cx="5166300" cy="1892700"/>
          </a:xfrm>
          <a:prstGeom prst="roundRect">
            <a:avLst>
              <a:gd fmla="val 16667" name="adj"/>
            </a:avLst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7105905" y="3214693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300">
                <a:solidFill>
                  <a:srgbClr val="F2F6FA"/>
                </a:solidFill>
              </a:rPr>
              <a:t>Higher prices</a:t>
            </a:r>
            <a:endParaRPr sz="1800"/>
          </a:p>
        </p:txBody>
      </p:sp>
      <p:sp>
        <p:nvSpPr>
          <p:cNvPr id="138" name="Google Shape;138;p14"/>
          <p:cNvSpPr txBox="1"/>
          <p:nvPr/>
        </p:nvSpPr>
        <p:spPr>
          <a:xfrm>
            <a:off x="7105905" y="3710202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1BFD0"/>
                </a:solidFill>
              </a:rPr>
              <a:t>Wars can disrupt energy and food supplies.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 flipH="1">
            <a:off x="6793550" y="3345800"/>
            <a:ext cx="215700" cy="228600"/>
          </a:xfrm>
          <a:prstGeom prst="ellipse">
            <a:avLst/>
          </a:prstGeom>
          <a:solidFill>
            <a:srgbClr val="F4BE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336625" y="3656600"/>
            <a:ext cx="3581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Rivalries can lead to new crises and insecurity.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3CCDC"/>
                </a:solidFill>
                <a:latin typeface="Arial"/>
                <a:ea typeface="Arial"/>
                <a:cs typeface="Arial"/>
                <a:sym typeface="Arial"/>
              </a:rPr>
              <a:t>POSSIBLE OUTCOME 02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0515600" y="38404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03 / 04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640080" y="749808"/>
            <a:ext cx="10927080" cy="228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658368" y="105156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A future built on diplomacy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85800" y="173736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Countries could negotiate instead of fighting.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713232" y="2560320"/>
            <a:ext cx="3246120" cy="2148840"/>
          </a:xfrm>
          <a:prstGeom prst="roundRect">
            <a:avLst>
              <a:gd fmla="val 16667" name="adj"/>
            </a:avLst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969264" y="2816352"/>
            <a:ext cx="502920" cy="502920"/>
          </a:xfrm>
          <a:prstGeom prst="ellipse">
            <a:avLst/>
          </a:prstGeom>
          <a:solidFill>
            <a:srgbClr val="53CCD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978408" y="2953512"/>
            <a:ext cx="4846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132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969264" y="349300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969264" y="3977639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Leaders meet and negotiate.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4315968" y="2560320"/>
            <a:ext cx="3246120" cy="2148840"/>
          </a:xfrm>
          <a:prstGeom prst="roundRect">
            <a:avLst>
              <a:gd fmla="val 16667" name="adj"/>
            </a:avLst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4572000" y="2816352"/>
            <a:ext cx="502920" cy="502920"/>
          </a:xfrm>
          <a:prstGeom prst="ellipse">
            <a:avLst/>
          </a:prstGeom>
          <a:solidFill>
            <a:srgbClr val="71D2A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4581144" y="2953512"/>
            <a:ext cx="4846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132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4572000" y="349300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Compromise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4572000" y="3977639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Each side accepts some limits.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7918704" y="2560320"/>
            <a:ext cx="3246120" cy="2148840"/>
          </a:xfrm>
          <a:prstGeom prst="roundRect">
            <a:avLst>
              <a:gd fmla="val 16667" name="adj"/>
            </a:avLst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8174736" y="2816352"/>
            <a:ext cx="502920" cy="502920"/>
          </a:xfrm>
          <a:prstGeom prst="ellipse">
            <a:avLst/>
          </a:prstGeom>
          <a:solidFill>
            <a:srgbClr val="F4BE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8183879" y="2953512"/>
            <a:ext cx="4846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132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8174736" y="349300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Cooperation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8174736" y="3977639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Countries work on shared problems.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731520" y="5166360"/>
            <a:ext cx="10424160" cy="640080"/>
          </a:xfrm>
          <a:prstGeom prst="roundRect">
            <a:avLst>
              <a:gd fmla="val 16667" name="adj"/>
            </a:avLst>
          </a:prstGeom>
          <a:solidFill>
            <a:srgbClr val="0F2D3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960120" y="5358384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3CCDC"/>
                </a:solidFill>
                <a:latin typeface="Arial"/>
                <a:ea typeface="Arial"/>
                <a:cs typeface="Arial"/>
                <a:sym typeface="Arial"/>
              </a:rPr>
              <a:t>The United Nations can provide a forum for international dialogue.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731520" y="61722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Peace requires trust, patience and political will.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/>
        </p:nvSpPr>
        <p:spPr>
          <a:xfrm>
            <a:off x="640080" y="384048"/>
            <a:ext cx="5486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3CCDC"/>
                </a:solidFill>
                <a:latin typeface="Arial"/>
                <a:ea typeface="Arial"/>
                <a:cs typeface="Arial"/>
                <a:sym typeface="Arial"/>
              </a:rPr>
              <a:t>POSSIBLE OUTCOME 03 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0515600" y="38404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04 / 04</a:t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640080" y="749808"/>
            <a:ext cx="10927080" cy="22860"/>
          </a:xfrm>
          <a:prstGeom prst="rect">
            <a:avLst/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658368" y="105156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A more divided world?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85800" y="173736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Countries may strengthen different alliances.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822960" y="2560320"/>
            <a:ext cx="2971800" cy="1005840"/>
          </a:xfrm>
          <a:prstGeom prst="roundRect">
            <a:avLst>
              <a:gd fmla="val 16667" name="adj"/>
            </a:avLst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1024128" y="29077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UNITED STATES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4617720" y="2560320"/>
            <a:ext cx="2971800" cy="1005840"/>
          </a:xfrm>
          <a:prstGeom prst="roundRect">
            <a:avLst>
              <a:gd fmla="val 16667" name="adj"/>
            </a:avLst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4800600" y="29077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CHINA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8412480" y="2560320"/>
            <a:ext cx="2971800" cy="1005840"/>
          </a:xfrm>
          <a:prstGeom prst="roundRect">
            <a:avLst>
              <a:gd fmla="val 16667" name="adj"/>
            </a:avLst>
          </a:prstGeom>
          <a:solidFill>
            <a:srgbClr val="1422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8595360" y="29077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RUSSIA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4005072" y="2788920"/>
            <a:ext cx="411480" cy="32004"/>
          </a:xfrm>
          <a:prstGeom prst="rect">
            <a:avLst/>
          </a:prstGeom>
          <a:solidFill>
            <a:srgbClr val="EE4E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4187952" y="2660904"/>
            <a:ext cx="32004" cy="292608"/>
          </a:xfrm>
          <a:prstGeom prst="rect">
            <a:avLst/>
          </a:prstGeom>
          <a:solidFill>
            <a:srgbClr val="EE4E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7799831" y="2788920"/>
            <a:ext cx="411480" cy="32004"/>
          </a:xfrm>
          <a:prstGeom prst="rect">
            <a:avLst/>
          </a:prstGeom>
          <a:solidFill>
            <a:srgbClr val="EE4E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7982711" y="2660904"/>
            <a:ext cx="32004" cy="292608"/>
          </a:xfrm>
          <a:prstGeom prst="rect">
            <a:avLst/>
          </a:prstGeom>
          <a:solidFill>
            <a:srgbClr val="EE4E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914400" y="388620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1BFD0"/>
                </a:solidFill>
                <a:latin typeface="Arial"/>
                <a:ea typeface="Arial"/>
                <a:cs typeface="Arial"/>
                <a:sym typeface="Arial"/>
              </a:rPr>
              <a:t>Different partnerships could make global cooperation more difficult.</a:t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731520" y="4617720"/>
            <a:ext cx="10698480" cy="1005840"/>
          </a:xfrm>
          <a:prstGeom prst="roundRect">
            <a:avLst>
              <a:gd fmla="val 16667" name="adj"/>
            </a:avLst>
          </a:prstGeom>
          <a:solidFill>
            <a:srgbClr val="122C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1005840" y="482803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3CCDC"/>
                </a:solidFill>
                <a:latin typeface="Arial"/>
                <a:ea typeface="Arial"/>
                <a:cs typeface="Arial"/>
                <a:sym typeface="Arial"/>
              </a:rPr>
              <a:t>MY VIEW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2148840" y="480060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2F6FA"/>
                </a:solidFill>
                <a:latin typeface="Arial"/>
                <a:ea typeface="Arial"/>
                <a:cs typeface="Arial"/>
                <a:sym typeface="Arial"/>
              </a:rPr>
              <a:t>Diplomacy and cooperation are the best ways to protect peace and stability.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/>
        </p:nvSpPr>
        <p:spPr>
          <a:xfrm flipH="1">
            <a:off x="647957" y="5866350"/>
            <a:ext cx="4130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B1BFD0"/>
                </a:solidFill>
              </a:rPr>
              <a:t>Thank you for listening…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